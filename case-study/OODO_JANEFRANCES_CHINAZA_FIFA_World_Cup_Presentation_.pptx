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764E-1C90-C487-EFF0-F5D76CD00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FAAF3-86BB-896C-37DF-6203F9E07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B7029-9BAB-4AEB-E697-BD9F24A8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9613D-7682-139E-163E-175F17E0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31823-A735-9D14-EB8F-B79A2671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0047-18C9-E3DD-C2ED-5A6819EA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9445-A201-53A2-542A-C17430A33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4F1E-EE59-E972-9BC8-0B5A18EA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D7B7-30BD-68C4-2B5C-C0FC4BA6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81503-2A2F-F199-783D-E169447B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2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F036-E3A4-5640-212C-93F97446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80DCC-FDDC-5AA6-5775-60549819F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A11F3-DB2D-7BE4-BB13-CFBA58DA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A4044-BF1B-FADD-C2D5-9FEC3591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3A12C-1477-2654-4BC9-742DEE0D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75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EEE2-87B2-67DF-5BC3-D3F80DDE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69A71-A514-D57E-40C4-9F53BEC3A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E5AA2-28BD-22D5-3776-F2CCB3FD2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4EF24-4259-974A-30F6-E13E04DE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A9D19-B4C7-FE0D-361B-3DD680A4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A7CA7-7544-D4A6-DD29-0A8FC994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8F42-48BE-8F80-8734-2A2B86F63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8FAF9-4496-49EF-49D9-CAD2FA68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2A7D3-CEFA-3DC3-6F7A-1F2C0CD84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10919-287E-3648-4EE5-44B845AE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85A31-749E-F7DD-CC88-C65DE8C55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CBE4D-B3D4-0C0E-206A-24521075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B8A2A-3175-45AE-C1D0-D0154C1F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7F4B0-AD05-0C86-A6AC-9BF67CC1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AB5D-39BB-9DF2-9AB3-579D0629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671CE-8DD6-BCF0-97B1-5B07B8AC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AD8F6-59F9-C4E5-7B2D-47814500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2596F-9750-951B-7DC8-C24820A9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6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749B8-A04A-9994-F18A-4CD15494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538CFC-E052-818D-F616-FBBB0411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03D7B-CEBB-4354-A4F3-D69DEFE1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5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CCDD-8A71-CEA9-4BA4-8B4EF993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3ACAF-35F8-B4F3-96E2-E3E33DFF9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6A938-E496-4D92-884A-3F25BA3E8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C4FB0-C9ED-B4B8-0279-CFC572AF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E7F43-888D-CDE4-E9E6-39A1F8F6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0DBF3-77BE-53EA-23F3-B19057BD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A9F3-5059-9698-5814-99721F69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2E403-070E-902B-D249-329575C55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B24EB-8604-BD44-4E92-C7C02812B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7F9B6-63FB-8B7F-5730-62CBC08D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BCC5A-CAF5-6DE4-0F09-04BF3C82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785FD-A193-C90C-7FDA-2347B646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0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CFC8-DFF5-829E-FC2F-95A39465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8A7DE-6617-8E4A-05D4-C55CC6741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12C72-F443-08D5-5C43-F03BAEDE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C1AE3-9716-8A1E-3FFD-FBCC3F62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8D47A-F7F1-3DCB-873A-1EBF7FD5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9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75010-05BC-E897-6450-1DA561233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40FAA-CBC6-8AAB-2A52-8033C854C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70B7C-7B4C-FDA8-6E06-0E129F14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521E7-CDD9-D537-A895-59890906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FC14F-453C-F95D-86D2-A9070070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17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3000"/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E20D3-A84A-D3E7-6ACD-9F441CD1C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26D5A-90AA-03B9-2435-F4BE493EE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F36D1-0F48-9F26-2EF8-CDE675779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DFA16-9CA7-489D-8750-F6887417E84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0F42F-B191-BB2E-FBFC-126CA101E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A3261-C2B2-0A5A-D38E-553A83FAA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81998-EEFA-442B-A297-C29F572C3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9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39A58C-86E7-B4F9-C03D-5B71437E7F41}"/>
              </a:ext>
            </a:extLst>
          </p:cNvPr>
          <p:cNvSpPr txBox="1"/>
          <p:nvPr/>
        </p:nvSpPr>
        <p:spPr>
          <a:xfrm>
            <a:off x="1657574" y="3883462"/>
            <a:ext cx="84094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Data Analyst: </a:t>
            </a:r>
            <a:r>
              <a:rPr lang="en-US" sz="2000" b="1" dirty="0" err="1">
                <a:latin typeface="Georgia" panose="02040502050405020303" pitchFamily="18" charset="0"/>
              </a:rPr>
              <a:t>Oodo</a:t>
            </a:r>
            <a:r>
              <a:rPr lang="en-US" sz="2000" b="1" dirty="0">
                <a:latin typeface="Georgia" panose="02040502050405020303" pitchFamily="18" charset="0"/>
              </a:rPr>
              <a:t> Janefrances </a:t>
            </a:r>
            <a:r>
              <a:rPr lang="en-US" sz="2000" b="1" dirty="0" err="1">
                <a:latin typeface="Georgia" panose="02040502050405020303" pitchFamily="18" charset="0"/>
              </a:rPr>
              <a:t>Chinaza</a:t>
            </a:r>
            <a:r>
              <a:rPr lang="en-US" sz="2000" b="1" dirty="0">
                <a:latin typeface="Georgia" panose="02040502050405020303" pitchFamily="18" charset="0"/>
              </a:rPr>
              <a:t> </a:t>
            </a:r>
          </a:p>
          <a:p>
            <a:r>
              <a:rPr lang="en-US" sz="2000" b="1" dirty="0">
                <a:latin typeface="Georgia" panose="02040502050405020303" pitchFamily="18" charset="0"/>
              </a:rPr>
              <a:t>Stack: Power BI, DAX, Power Query, Star Schema </a:t>
            </a:r>
          </a:p>
          <a:p>
            <a:r>
              <a:rPr lang="en-US" sz="2000" b="1" dirty="0">
                <a:latin typeface="Georgia" panose="02040502050405020303" pitchFamily="18" charset="0"/>
              </a:rPr>
              <a:t>Date: July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D2BCD-0C47-3518-16F8-59BCB9D1206C}"/>
              </a:ext>
            </a:extLst>
          </p:cNvPr>
          <p:cNvSpPr txBox="1"/>
          <p:nvPr/>
        </p:nvSpPr>
        <p:spPr>
          <a:xfrm>
            <a:off x="2886635" y="83647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Georgia" panose="02040502050405020303" pitchFamily="18" charset="0"/>
              </a:rPr>
              <a:t>FIFA WORLD CUP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74689-B749-E272-EB0A-02A797ED3C13}"/>
              </a:ext>
            </a:extLst>
          </p:cNvPr>
          <p:cNvSpPr txBox="1"/>
          <p:nvPr/>
        </p:nvSpPr>
        <p:spPr>
          <a:xfrm>
            <a:off x="2814320" y="240613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Georgia" panose="02040502050405020303" pitchFamily="18" charset="0"/>
              </a:rPr>
              <a:t>5-Tournament Historical Analytics (2002–2018)</a:t>
            </a:r>
          </a:p>
          <a:p>
            <a:endParaRPr lang="en-US" sz="1800" b="1" dirty="0">
              <a:latin typeface="Georgia" panose="02040502050405020303" pitchFamily="18" charset="0"/>
            </a:endParaRPr>
          </a:p>
          <a:p>
            <a:r>
              <a:rPr lang="en-US" sz="1800" b="1" dirty="0">
                <a:latin typeface="Georgia" panose="02040502050405020303" pitchFamily="18" charset="0"/>
              </a:rPr>
              <a:t>Executive Portfolio Case Study &amp; Dashboard Presentation</a:t>
            </a:r>
          </a:p>
          <a:p>
            <a:endParaRPr lang="en-US" sz="1800" b="1" dirty="0">
              <a:latin typeface="Georgia" panose="020405020504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8FC1EF-AB47-106A-268F-2EB2ACF31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23" y="777252"/>
            <a:ext cx="3374966" cy="301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74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886523-8EFB-C351-CC3D-D857BE74D7D4}"/>
              </a:ext>
            </a:extLst>
          </p:cNvPr>
          <p:cNvSpPr txBox="1"/>
          <p:nvPr/>
        </p:nvSpPr>
        <p:spPr>
          <a:xfrm>
            <a:off x="401320" y="566678"/>
            <a:ext cx="116179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PROJECT SCOPE &amp; CONTEXT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• Comprehensive data analysis across 5 FIFA World Cup editions</a:t>
            </a:r>
          </a:p>
          <a:p>
            <a:r>
              <a:rPr lang="en-US" dirty="0">
                <a:latin typeface="Georgia" panose="02040502050405020303" pitchFamily="18" charset="0"/>
              </a:rPr>
              <a:t>(2002 to 2018).</a:t>
            </a:r>
          </a:p>
          <a:p>
            <a:r>
              <a:rPr lang="en-US" dirty="0">
                <a:latin typeface="Georgia" panose="02040502050405020303" pitchFamily="18" charset="0"/>
              </a:rPr>
              <a:t>• Utilized Microsoft Power BI for cleaning, modeling, and interactive</a:t>
            </a:r>
          </a:p>
          <a:p>
            <a:r>
              <a:rPr lang="en-US" dirty="0">
                <a:latin typeface="Georgia" panose="02040502050405020303" pitchFamily="18" charset="0"/>
              </a:rPr>
              <a:t>visualization.</a:t>
            </a:r>
          </a:p>
          <a:p>
            <a:r>
              <a:rPr lang="en-US" dirty="0">
                <a:latin typeface="Georgia" panose="02040502050405020303" pitchFamily="18" charset="0"/>
              </a:rPr>
              <a:t>• Engineered star schema data model connecting fact tables and</a:t>
            </a:r>
          </a:p>
          <a:p>
            <a:r>
              <a:rPr lang="en-US" dirty="0">
                <a:latin typeface="Georgia" panose="02040502050405020303" pitchFamily="18" charset="0"/>
              </a:rPr>
              <a:t>team/date dimensions.</a:t>
            </a:r>
          </a:p>
          <a:p>
            <a:r>
              <a:rPr lang="en-US" dirty="0">
                <a:latin typeface="Georgia" panose="02040502050405020303" pitchFamily="18" charset="0"/>
              </a:rPr>
              <a:t>• Formulated dynamic DAX measures for real-time aggregation and</a:t>
            </a:r>
          </a:p>
          <a:p>
            <a:r>
              <a:rPr lang="en-US" dirty="0">
                <a:latin typeface="Georgia" panose="02040502050405020303" pitchFamily="18" charset="0"/>
              </a:rPr>
              <a:t>filtering.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423EE-9C86-F4D6-84B3-02A029862CE5}"/>
              </a:ext>
            </a:extLst>
          </p:cNvPr>
          <p:cNvSpPr txBox="1"/>
          <p:nvPr/>
        </p:nvSpPr>
        <p:spPr>
          <a:xfrm>
            <a:off x="401320" y="3502462"/>
            <a:ext cx="7086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PROJECT MISSION STATEMENT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To evaluate tournament scoring efficiency, team</a:t>
            </a:r>
          </a:p>
          <a:p>
            <a:r>
              <a:rPr lang="en-US" dirty="0">
                <a:latin typeface="Georgia" panose="02040502050405020303" pitchFamily="18" charset="0"/>
              </a:rPr>
              <a:t>performance trends, historical win/loss distributions, and</a:t>
            </a:r>
          </a:p>
          <a:p>
            <a:r>
              <a:rPr lang="en-US" dirty="0">
                <a:latin typeface="Georgia" panose="02040502050405020303" pitchFamily="18" charset="0"/>
              </a:rPr>
              <a:t>targeted national performance profiles (focusing</a:t>
            </a:r>
          </a:p>
          <a:p>
            <a:r>
              <a:rPr lang="en-US" dirty="0">
                <a:latin typeface="Georgia" panose="02040502050405020303" pitchFamily="18" charset="0"/>
              </a:rPr>
              <a:t>specifically on France and Nigeria) to empower sports</a:t>
            </a:r>
          </a:p>
          <a:p>
            <a:r>
              <a:rPr lang="en-US" dirty="0">
                <a:latin typeface="Georgia" panose="02040502050405020303" pitchFamily="18" charset="0"/>
              </a:rPr>
              <a:t>analysts and federations with centralized historical</a:t>
            </a:r>
          </a:p>
          <a:p>
            <a:r>
              <a:rPr lang="en-US" dirty="0">
                <a:latin typeface="Georgia" panose="02040502050405020303" pitchFamily="18" charset="0"/>
              </a:rPr>
              <a:t>intelligence.</a:t>
            </a:r>
          </a:p>
        </p:txBody>
      </p:sp>
    </p:spTree>
    <p:extLst>
      <p:ext uri="{BB962C8B-B14F-4D97-AF65-F5344CB8AC3E}">
        <p14:creationId xmlns:p14="http://schemas.microsoft.com/office/powerpoint/2010/main" val="275974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8A77A0-4F13-2056-C26E-7A400EF3FD8B}"/>
              </a:ext>
            </a:extLst>
          </p:cNvPr>
          <p:cNvSpPr txBox="1"/>
          <p:nvPr/>
        </p:nvSpPr>
        <p:spPr>
          <a:xfrm>
            <a:off x="182880" y="155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Power BI Dashboard Overview &amp; Visual Layout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F0A33F-ACEB-17AB-5A54-BDE904E6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" y="657162"/>
            <a:ext cx="10457195" cy="604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0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4CE779-7C96-06F7-5853-71FC79EAE941}"/>
              </a:ext>
            </a:extLst>
          </p:cNvPr>
          <p:cNvSpPr txBox="1"/>
          <p:nvPr/>
        </p:nvSpPr>
        <p:spPr>
          <a:xfrm>
            <a:off x="436880" y="257532"/>
            <a:ext cx="1156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Georgia" panose="02040502050405020303" pitchFamily="18" charset="0"/>
              </a:rPr>
              <a:t>Dashboard Layout &amp; Visual Components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Georgia" panose="02040502050405020303" pitchFamily="18" charset="0"/>
              </a:rPr>
              <a:t>• KPI Summary Cards: Displays high-level aggregates: 793 Goals, 247 Wins, 59 Teams, 640</a:t>
            </a:r>
          </a:p>
          <a:p>
            <a:r>
              <a:rPr lang="en-US" sz="1600" dirty="0">
                <a:latin typeface="Georgia" panose="02040502050405020303" pitchFamily="18" charset="0"/>
              </a:rPr>
              <a:t>Games.</a:t>
            </a:r>
          </a:p>
          <a:p>
            <a:r>
              <a:rPr lang="en-US" sz="1600" dirty="0">
                <a:latin typeface="Georgia" panose="02040502050405020303" pitchFamily="18" charset="0"/>
              </a:rPr>
              <a:t>• Interactive Slicers: Multi-select filters for Year (2002–2018) and Team drill-down.</a:t>
            </a:r>
          </a:p>
          <a:p>
            <a:r>
              <a:rPr lang="en-US" sz="1600" dirty="0">
                <a:latin typeface="Georgia" panose="02040502050405020303" pitchFamily="18" charset="0"/>
              </a:rPr>
              <a:t>• Bar Chart (Games Played): Ranks countries by total matches led by Germany (31) &amp; Brazil</a:t>
            </a:r>
          </a:p>
          <a:p>
            <a:r>
              <a:rPr lang="en-US" sz="1600" dirty="0">
                <a:latin typeface="Georgia" panose="02040502050405020303" pitchFamily="18" charset="0"/>
              </a:rPr>
              <a:t>(29).</a:t>
            </a:r>
          </a:p>
          <a:p>
            <a:r>
              <a:rPr lang="en-US" sz="1600" dirty="0">
                <a:latin typeface="Georgia" panose="02040502050405020303" pitchFamily="18" charset="0"/>
              </a:rPr>
              <a:t>• Line Chart (Goals Trend): Tracks tournament scoring evolution from 2002 (161) to peak</a:t>
            </a:r>
          </a:p>
          <a:p>
            <a:r>
              <a:rPr lang="en-US" sz="1600" dirty="0">
                <a:latin typeface="Georgia" panose="02040502050405020303" pitchFamily="18" charset="0"/>
              </a:rPr>
              <a:t>2014 (171).</a:t>
            </a:r>
          </a:p>
          <a:p>
            <a:r>
              <a:rPr lang="en-US" sz="1600" dirty="0">
                <a:latin typeface="Georgia" panose="02040502050405020303" pitchFamily="18" charset="0"/>
              </a:rPr>
              <a:t>• Donut Chart (Outcomes): Breaks down total results: 38.6% Wins, 38.6% Losses, 22.8%</a:t>
            </a:r>
          </a:p>
          <a:p>
            <a:r>
              <a:rPr lang="en-US" sz="1600" dirty="0">
                <a:latin typeface="Georgia" panose="02040502050405020303" pitchFamily="18" charset="0"/>
              </a:rPr>
              <a:t>Draws.</a:t>
            </a:r>
          </a:p>
          <a:p>
            <a:r>
              <a:rPr lang="en-US" sz="1600" dirty="0">
                <a:latin typeface="Georgia" panose="02040502050405020303" pitchFamily="18" charset="0"/>
              </a:rPr>
              <a:t>• Granular Table View: Full matrix displaying Wins, Losses, Draws, Goals, GD, and Points.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9E99B-4F77-36B5-660F-B12036AB9F36}"/>
              </a:ext>
            </a:extLst>
          </p:cNvPr>
          <p:cNvSpPr txBox="1"/>
          <p:nvPr/>
        </p:nvSpPr>
        <p:spPr>
          <a:xfrm>
            <a:off x="731520" y="3553481"/>
            <a:ext cx="1072896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Georgia" panose="02040502050405020303" pitchFamily="18" charset="0"/>
              </a:rPr>
              <a:t>Key Data Highlights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Georgia" panose="02040502050405020303" pitchFamily="18" charset="0"/>
              </a:rPr>
              <a:t>Top Performer</a:t>
            </a:r>
          </a:p>
          <a:p>
            <a:r>
              <a:rPr lang="en-US" sz="1600" dirty="0">
                <a:latin typeface="Georgia" panose="02040502050405020303" pitchFamily="18" charset="0"/>
              </a:rPr>
              <a:t>Germany leads overall with 69 Points, 64 Goals Scored, and</a:t>
            </a:r>
          </a:p>
          <a:p>
            <a:r>
              <a:rPr lang="en-US" sz="1600" dirty="0">
                <a:latin typeface="Georgia" panose="02040502050405020303" pitchFamily="18" charset="0"/>
              </a:rPr>
              <a:t>+33 Goal Difference.</a:t>
            </a:r>
          </a:p>
          <a:p>
            <a:r>
              <a:rPr lang="en-US" sz="1600" dirty="0">
                <a:latin typeface="Georgia" panose="02040502050405020303" pitchFamily="18" charset="0"/>
              </a:rPr>
              <a:t>Runner Up</a:t>
            </a:r>
          </a:p>
          <a:p>
            <a:r>
              <a:rPr lang="en-US" sz="1600" dirty="0">
                <a:latin typeface="Georgia" panose="02040502050405020303" pitchFamily="18" charset="0"/>
              </a:rPr>
              <a:t>Brazil follows closely with 63 Points, 56 Goals Scored across</a:t>
            </a:r>
          </a:p>
          <a:p>
            <a:r>
              <a:rPr lang="en-US" sz="1600" dirty="0">
                <a:latin typeface="Georgia" panose="02040502050405020303" pitchFamily="18" charset="0"/>
              </a:rPr>
              <a:t>29 games.</a:t>
            </a:r>
          </a:p>
          <a:p>
            <a:r>
              <a:rPr lang="en-US" sz="1600" dirty="0">
                <a:latin typeface="Georgia" panose="02040502050405020303" pitchFamily="18" charset="0"/>
              </a:rPr>
              <a:t>Outcome Distribution</a:t>
            </a:r>
          </a:p>
          <a:p>
            <a:r>
              <a:rPr lang="en-US" sz="1600" dirty="0">
                <a:latin typeface="Georgia" panose="02040502050405020303" pitchFamily="18" charset="0"/>
              </a:rPr>
              <a:t>Draws constitute 22.81% (146 matches), reflecting tight</a:t>
            </a:r>
          </a:p>
          <a:p>
            <a:r>
              <a:rPr lang="en-US" sz="1600" dirty="0">
                <a:latin typeface="Georgia" panose="02040502050405020303" pitchFamily="18" charset="0"/>
              </a:rPr>
              <a:t>group stage competition.</a:t>
            </a:r>
          </a:p>
        </p:txBody>
      </p:sp>
    </p:spTree>
    <p:extLst>
      <p:ext uri="{BB962C8B-B14F-4D97-AF65-F5344CB8AC3E}">
        <p14:creationId xmlns:p14="http://schemas.microsoft.com/office/powerpoint/2010/main" val="300490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7A029AB-2C53-F56D-E0A2-420B5F882AA5}"/>
              </a:ext>
            </a:extLst>
          </p:cNvPr>
          <p:cNvSpPr txBox="1"/>
          <p:nvPr/>
        </p:nvSpPr>
        <p:spPr>
          <a:xfrm>
            <a:off x="589280" y="952976"/>
            <a:ext cx="26314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2002 World Cup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161 Goals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2.52 goals/match baseline</a:t>
            </a:r>
          </a:p>
          <a:p>
            <a:r>
              <a:rPr lang="en-US" dirty="0">
                <a:latin typeface="Georgia" panose="02040502050405020303" pitchFamily="18" charset="0"/>
              </a:rPr>
              <a:t>across 64 matches in</a:t>
            </a:r>
          </a:p>
          <a:p>
            <a:r>
              <a:rPr lang="en-US" dirty="0">
                <a:latin typeface="Georgia" panose="02040502050405020303" pitchFamily="18" charset="0"/>
              </a:rPr>
              <a:t>Korea/Japan.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EF7234-1AF0-F233-A007-8D800CF6119C}"/>
              </a:ext>
            </a:extLst>
          </p:cNvPr>
          <p:cNvSpPr txBox="1"/>
          <p:nvPr/>
        </p:nvSpPr>
        <p:spPr>
          <a:xfrm>
            <a:off x="3830321" y="1251356"/>
            <a:ext cx="2763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2006 World Cup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147 Goals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Defensive tactical setups</a:t>
            </a:r>
          </a:p>
          <a:p>
            <a:r>
              <a:rPr lang="en-US" dirty="0">
                <a:latin typeface="Georgia" panose="02040502050405020303" pitchFamily="18" charset="0"/>
              </a:rPr>
              <a:t>dominated early group</a:t>
            </a:r>
          </a:p>
          <a:p>
            <a:r>
              <a:rPr lang="en-US" dirty="0">
                <a:latin typeface="Georgia" panose="02040502050405020303" pitchFamily="18" charset="0"/>
              </a:rPr>
              <a:t>phase matches.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DD04B7-73E0-B6FE-4A23-712649BF6E99}"/>
              </a:ext>
            </a:extLst>
          </p:cNvPr>
          <p:cNvSpPr txBox="1"/>
          <p:nvPr/>
        </p:nvSpPr>
        <p:spPr>
          <a:xfrm>
            <a:off x="7432040" y="1251357"/>
            <a:ext cx="2763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2010 World Cup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145 Goals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Lowest scoring output in</a:t>
            </a:r>
          </a:p>
          <a:p>
            <a:r>
              <a:rPr lang="en-US" dirty="0">
                <a:latin typeface="Georgia" panose="02040502050405020303" pitchFamily="18" charset="0"/>
              </a:rPr>
              <a:t>modern era during South</a:t>
            </a:r>
          </a:p>
          <a:p>
            <a:r>
              <a:rPr lang="en-US" dirty="0">
                <a:latin typeface="Georgia" panose="02040502050405020303" pitchFamily="18" charset="0"/>
              </a:rPr>
              <a:t>Africa tournament.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B07D97-CF4A-14E6-9C70-15A2DF554D94}"/>
              </a:ext>
            </a:extLst>
          </p:cNvPr>
          <p:cNvSpPr txBox="1"/>
          <p:nvPr/>
        </p:nvSpPr>
        <p:spPr>
          <a:xfrm>
            <a:off x="589280" y="3886598"/>
            <a:ext cx="289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2014 World Cup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171 Goals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Peak offensive tournament</a:t>
            </a:r>
          </a:p>
          <a:p>
            <a:r>
              <a:rPr lang="en-US" dirty="0">
                <a:latin typeface="Georgia" panose="02040502050405020303" pitchFamily="18" charset="0"/>
              </a:rPr>
              <a:t>output, tying all-time</a:t>
            </a:r>
          </a:p>
          <a:p>
            <a:r>
              <a:rPr lang="en-US" dirty="0">
                <a:latin typeface="Georgia" panose="02040502050405020303" pitchFamily="18" charset="0"/>
              </a:rPr>
              <a:t>historical records.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91E9C3-6E7F-9551-3E89-CC05B0C79009}"/>
              </a:ext>
            </a:extLst>
          </p:cNvPr>
          <p:cNvSpPr txBox="1"/>
          <p:nvPr/>
        </p:nvSpPr>
        <p:spPr>
          <a:xfrm>
            <a:off x="3926840" y="3886597"/>
            <a:ext cx="289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2018 World Cup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169 Goals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Sustained high offensive</a:t>
            </a:r>
          </a:p>
          <a:p>
            <a:r>
              <a:rPr lang="en-US" dirty="0">
                <a:latin typeface="Georgia" panose="02040502050405020303" pitchFamily="18" charset="0"/>
              </a:rPr>
              <a:t>productivity across Russia</a:t>
            </a:r>
          </a:p>
          <a:p>
            <a:r>
              <a:rPr lang="en-US" dirty="0">
                <a:latin typeface="Georgia" panose="02040502050405020303" pitchFamily="18" charset="0"/>
              </a:rPr>
              <a:t>tournament fixtures.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34010-B38D-C797-C226-404568F26E82}"/>
              </a:ext>
            </a:extLst>
          </p:cNvPr>
          <p:cNvSpPr txBox="1"/>
          <p:nvPr/>
        </p:nvSpPr>
        <p:spPr>
          <a:xfrm>
            <a:off x="589280" y="164394"/>
            <a:ext cx="734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Goal Trend Analysis Across Tournaments (2002–2018)</a:t>
            </a:r>
          </a:p>
        </p:txBody>
      </p:sp>
    </p:spTree>
    <p:extLst>
      <p:ext uri="{BB962C8B-B14F-4D97-AF65-F5344CB8AC3E}">
        <p14:creationId xmlns:p14="http://schemas.microsoft.com/office/powerpoint/2010/main" val="134537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36C589-F29A-1BC7-A030-7AEB3D182BFC}"/>
              </a:ext>
            </a:extLst>
          </p:cNvPr>
          <p:cNvSpPr/>
          <p:nvPr/>
        </p:nvSpPr>
        <p:spPr>
          <a:xfrm>
            <a:off x="782320" y="711200"/>
            <a:ext cx="4582160" cy="57708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Target Profile: France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• Peak Tournament (2018): World Cup Champions with 6 Wins, 1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Draw, 0 Losses (19 Points, 14 Goals).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• Historical Trajectory: 2002 Group exit (1 pt) ➔ 2006 Finalists (15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pts) ➔ 2010 Exit (1 pt) ➔ 2014 QF (10 pts) ➔ 2018 Champions.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• Key Characteristic: High ceiling with significant performance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variance between tournament cycles.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329978-4CD5-8F52-C9E2-BF28DAA3627F}"/>
              </a:ext>
            </a:extLst>
          </p:cNvPr>
          <p:cNvSpPr/>
          <p:nvPr/>
        </p:nvSpPr>
        <p:spPr>
          <a:xfrm>
            <a:off x="6329680" y="711200"/>
            <a:ext cx="4582160" cy="57708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Target Profile: Nigeria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• Qualification Consistency: Qualified for 4 out of 5 tournaments (2002,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2010, 2014, 2018).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• Overall Metrics: 13 Games | 2 Wins | 3 Draws | 8 Losses | 9 Points | -8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GD (12 Scored, 20 Conceded).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• Peak Campaign (2014): Reached Round of 16 in Brazil with 4 Group Stage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Points.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• Special Performance Effect: Win rate (~15.4%) vs global qualifier average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(~38.5%) highlights conversion gaps and defensive strain in close fixtures.</a:t>
            </a:r>
          </a:p>
        </p:txBody>
      </p:sp>
    </p:spTree>
    <p:extLst>
      <p:ext uri="{BB962C8B-B14F-4D97-AF65-F5344CB8AC3E}">
        <p14:creationId xmlns:p14="http://schemas.microsoft.com/office/powerpoint/2010/main" val="277041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C84DEE-1754-F53C-1DA7-0CA5ACCB538C}"/>
              </a:ext>
            </a:extLst>
          </p:cNvPr>
          <p:cNvSpPr/>
          <p:nvPr/>
        </p:nvSpPr>
        <p:spPr>
          <a:xfrm>
            <a:off x="558799" y="203199"/>
            <a:ext cx="10430625" cy="38035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Star Schema Structure (ERD)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• Fact Table (Fact_Tournament_Performance): Contains granular match records,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goals, results, and outcome scores.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• Dimension Table (Dim_Team): 39 unique teams enabling clean row-level filtering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and slicing.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• Dimension Table (Dim_Date / Year): Dedicated calendar dimension enabling Time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Intelligence functions.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• Centralized Measures Library (_Measures): Dedicated container for DAX metrics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ensuring maintainability.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CCF2E-BE94-FF06-120C-506E0FAE4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67" y="4141931"/>
            <a:ext cx="6210003" cy="25294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882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F1796E-E0B4-86B4-9F74-4164709D6734}"/>
              </a:ext>
            </a:extLst>
          </p:cNvPr>
          <p:cNvSpPr/>
          <p:nvPr/>
        </p:nvSpPr>
        <p:spPr>
          <a:xfrm>
            <a:off x="745862" y="555812"/>
            <a:ext cx="4507456" cy="576430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Core DAX Formulae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Total Points Calculation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Total Points =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([Total Wins] * 3) + ([Total Draws] * 1)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Goal Difference Measure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Total Goal Difference =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SUM(Fact[Goals Scored]) - SUM(Fact[Goals Conceded])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Win Rate Percentage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Win Rate % =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DIVIDE([Total Wins], [Total Games Played], 0)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32D088-2FA5-0B80-C0ED-998A96E155BC}"/>
              </a:ext>
            </a:extLst>
          </p:cNvPr>
          <p:cNvSpPr/>
          <p:nvPr/>
        </p:nvSpPr>
        <p:spPr>
          <a:xfrm>
            <a:off x="6248399" y="735106"/>
            <a:ext cx="4867837" cy="54057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Actionable Recommendations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1. Game Management Optimization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National federations (e.g., Nigeria) facing defensive strain should optimize defensive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transition strategies to convert draws into decisive victories.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2. Advanced Tactical BI Integration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Incorporate real-time opponent modeling into pre-tournament preparation using star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schema analytics.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3. Predictive Telemetry Expansion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Expand future Power BI iterations with player-level telemetry (</a:t>
            </a:r>
            <a:r>
              <a:rPr lang="en-US" sz="1600" dirty="0" err="1">
                <a:solidFill>
                  <a:schemeClr val="tx1"/>
                </a:solidFill>
                <a:latin typeface="Georgia" panose="02040502050405020303" pitchFamily="18" charset="0"/>
              </a:rPr>
              <a:t>xG</a:t>
            </a:r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, distance, pressing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efficiency).</a:t>
            </a:r>
          </a:p>
        </p:txBody>
      </p:sp>
    </p:spTree>
    <p:extLst>
      <p:ext uri="{BB962C8B-B14F-4D97-AF65-F5344CB8AC3E}">
        <p14:creationId xmlns:p14="http://schemas.microsoft.com/office/powerpoint/2010/main" val="124517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EEDC25-FAE4-AB70-7CFD-C169BB24B6CB}"/>
              </a:ext>
            </a:extLst>
          </p:cNvPr>
          <p:cNvSpPr txBox="1"/>
          <p:nvPr/>
        </p:nvSpPr>
        <p:spPr>
          <a:xfrm>
            <a:off x="3137647" y="289390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Georgia" panose="020405020504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260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162</TotalTime>
  <Words>811</Words>
  <Application>Microsoft Office PowerPoint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janefrances</dc:creator>
  <cp:lastModifiedBy>janefrances</cp:lastModifiedBy>
  <cp:revision>11</cp:revision>
  <dcterms:created xsi:type="dcterms:W3CDTF">2026-07-21T12:35:52Z</dcterms:created>
  <dcterms:modified xsi:type="dcterms:W3CDTF">2026-07-22T15:26:44Z</dcterms:modified>
</cp:coreProperties>
</file>